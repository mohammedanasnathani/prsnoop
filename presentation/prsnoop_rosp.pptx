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200000"/>
            <a:ext cx="108324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5400" b="1">
                <a:solidFill>
                  <a:srgbClr val="FBFBFA"/>
                </a:solidFill>
                <a:latin typeface="Consolas"/>
              </a:rPr>
              <a:t>prsnoop_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300000"/>
            <a:ext cx="108324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3000" b="1">
                <a:solidFill>
                  <a:srgbClr val="FBFBFA"/>
                </a:solidFill>
                <a:latin typeface="Calibri"/>
              </a:rPr>
              <a:t>what did your pull requests actually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00000"/>
            <a:ext cx="108324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600" b="0">
                <a:solidFill>
                  <a:srgbClr val="B9B9C0"/>
                </a:solidFill>
                <a:latin typeface="Calibri"/>
              </a:rPr>
              <a:t>Pull-request analytics from the command line. ROSP internal project, OSS Lab.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5803D"/>
                </a:solidFill>
                <a:latin typeface="Consolas"/>
              </a:rPr>
              <a:t>v1.3.0 released  ·  96 tests passing  ·  0 dependencies  ·  MIT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B9B9C0"/>
                </a:solidFill>
                <a:latin typeface="Consolas"/>
              </a:rPr>
              <a:t>github.com/MohammedAnasNathani/prsnoop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3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Consolas"/>
              </a:rPr>
              <a:t>02 · INITIAL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3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</a:pPr>
            <a:r>
              <a:rPr sz="3200" b="1">
                <a:solidFill>
                  <a:srgbClr val="0A0A0C"/>
                </a:solidFill>
                <a:latin typeface="Calibri"/>
              </a:rPr>
              <a:t>We went looking for the tool.</a:t>
            </a:r>
          </a:p>
          <a:p>
            <a:pPr>
              <a:spcAft>
                <a:spcPts val="200"/>
              </a:spcAft>
            </a:pPr>
            <a:r>
              <a:rPr sz="3200" b="1">
                <a:solidFill>
                  <a:srgbClr val="0A0A0C"/>
                </a:solidFill>
                <a:latin typeface="Calibri"/>
              </a:rPr>
              <a:t>It did not exist.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00000"/>
            <a:ext cx="108324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sz="1600" b="1">
                <a:solidFill>
                  <a:srgbClr val="15803D"/>
                </a:solidFill>
                <a:latin typeface="Consolas"/>
              </a:rPr>
              <a:t>F-1 · CLI gap is empty:  </a:t>
            </a:r>
            <a:r>
              <a:rPr sz="1600">
                <a:solidFill>
                  <a:srgbClr val="0A0A0C"/>
                </a:solidFill>
                <a:latin typeface="Calibri"/>
              </a:rPr>
              <a:t>no maintained tool for personal PR analytics (~13-star hobby repos).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5803D"/>
                </a:solidFill>
                <a:latin typeface="Consolas"/>
              </a:rPr>
              <a:t>F-2 · Dashboards are crowded:  </a:t>
            </a:r>
            <a:r>
              <a:rPr sz="1600">
                <a:solidFill>
                  <a:srgbClr val="0A0A0C"/>
                </a:solidFill>
                <a:latin typeface="Calibri"/>
              </a:rPr>
              <a:t>funded web apps; nothing runs over SSH, in CI, or cron.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5803D"/>
                </a:solidFill>
                <a:latin typeface="Consolas"/>
              </a:rPr>
              <a:t>F-3 · gh CLI stops halfway:  </a:t>
            </a:r>
            <a:r>
              <a:rPr sz="1600">
                <a:solidFill>
                  <a:srgbClr val="0A0A0C"/>
                </a:solidFill>
                <a:latin typeface="Calibri"/>
              </a:rPr>
              <a:t>official CLI (46k stars) lists PRs; reports need hand-built jq pipelines.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3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Consolas"/>
              </a:rPr>
              <a:t>03 ·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3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</a:pPr>
            <a:r>
              <a:rPr sz="3200" b="1">
                <a:solidFill>
                  <a:srgbClr val="0A0A0C"/>
                </a:solidFill>
                <a:latin typeface="Calibri"/>
              </a:rPr>
              <a:t>The profile page counts green squares.</a:t>
            </a:r>
          </a:p>
          <a:p>
            <a:pPr>
              <a:spcAft>
                <a:spcPts val="200"/>
              </a:spcAft>
            </a:pPr>
            <a:r>
              <a:rPr sz="3200" b="1">
                <a:solidFill>
                  <a:srgbClr val="0A0A0C"/>
                </a:solidFill>
                <a:latin typeface="Calibri"/>
              </a:rPr>
              <a:t>It answers nothing that matters.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00000"/>
            <a:ext cx="108324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sz="1600" b="1">
                <a:solidFill>
                  <a:srgbClr val="15803D"/>
                </a:solidFill>
                <a:latin typeface="Consolas"/>
              </a:rPr>
              <a:t>Q1  </a:t>
            </a:r>
            <a:r>
              <a:rPr sz="1600">
                <a:solidFill>
                  <a:srgbClr val="0A0A0C"/>
                </a:solidFill>
                <a:latin typeface="Calibri"/>
              </a:rPr>
              <a:t>What share of my pull requests actually merged?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5803D"/>
                </a:solidFill>
                <a:latin typeface="Consolas"/>
              </a:rPr>
              <a:t>Q2  </a:t>
            </a:r>
            <a:r>
              <a:rPr sz="1600">
                <a:solidFill>
                  <a:srgbClr val="0A0A0C"/>
                </a:solidFill>
                <a:latin typeface="Calibri"/>
              </a:rPr>
              <a:t>How long do maintainers take to merge my work?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5803D"/>
                </a:solidFill>
                <a:latin typeface="Consolas"/>
              </a:rPr>
              <a:t>Q3  </a:t>
            </a:r>
            <a:r>
              <a:rPr sz="1600">
                <a:solidFill>
                  <a:srgbClr val="0A0A0C"/>
                </a:solidFill>
                <a:latin typeface="Calibri"/>
              </a:rPr>
              <a:t>Which projects and languages am I invested in?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5803D"/>
                </a:solidFill>
                <a:latin typeface="Consolas"/>
              </a:rPr>
              <a:t>Q4  </a:t>
            </a:r>
            <a:r>
              <a:rPr sz="1600">
                <a:solidFill>
                  <a:srgbClr val="0A0A0C"/>
                </a:solidFill>
                <a:latin typeface="Calibri"/>
              </a:rPr>
              <a:t>What does last month look like as a document I can send?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3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Consolas"/>
              </a:rPr>
              <a:t>04 · FIELD DATA · PUBLIC NUMBERS, SEP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3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</a:pPr>
            <a:r>
              <a:rPr sz="3200" b="1">
                <a:solidFill>
                  <a:srgbClr val="0A0A0C"/>
                </a:solidFill>
                <a:latin typeface="Calibri"/>
              </a:rPr>
              <a:t>Everyone else built a website.</a:t>
            </a:r>
          </a:p>
          <a:p>
            <a:pPr>
              <a:spcAft>
                <a:spcPts val="200"/>
              </a:spcAft>
            </a:pPr>
            <a:r>
              <a:rPr sz="3200" b="1">
                <a:solidFill>
                  <a:srgbClr val="0A0A0C"/>
                </a:solidFill>
                <a:latin typeface="Calibri"/>
              </a:rPr>
              <a:t>Nobody packaged the pipeline.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50000"/>
            <a:ext cx="108324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500" b="0">
                <a:solidFill>
                  <a:srgbClr val="5D5D64"/>
                </a:solidFill>
                <a:latin typeface="Calibri"/>
              </a:rPr>
              <a:t>Stars measure the web-dashboard crowd. The scriptable personal-report column has one entry.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00000"/>
            <a:ext cx="108324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sz="1600" b="1">
                <a:solidFill>
                  <a:srgbClr val="15803D"/>
                </a:solidFill>
                <a:latin typeface="Consolas"/>
              </a:rPr>
              <a:t>gh CLI : 46,204 stars:  </a:t>
            </a:r>
            <a:r>
              <a:rPr sz="1600">
                <a:solidFill>
                  <a:srgbClr val="0A0A0C"/>
                </a:solidFill>
                <a:latin typeface="Calibri"/>
              </a:rPr>
              <a:t>lists PRs, zero analytics (cli/cli).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5803D"/>
                </a:solidFill>
                <a:latin typeface="Consolas"/>
              </a:rPr>
              <a:t>OSS Insight : 2,505 stars:  </a:t>
            </a:r>
            <a:r>
              <a:rPr sz="1600">
                <a:solidFill>
                  <a:srgbClr val="0A0A0C"/>
                </a:solidFill>
                <a:latin typeface="Calibri"/>
              </a:rPr>
              <a:t>ecosystem research, not personal reports (pingcap/ossinsight).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5803D"/>
                </a:solidFill>
                <a:latin typeface="Consolas"/>
              </a:rPr>
              <a:t>OpenSauced v1 : 948 stars:  </a:t>
            </a:r>
            <a:r>
              <a:rPr sz="1600">
                <a:solidFill>
                  <a:srgbClr val="0A0A0C"/>
                </a:solidFill>
                <a:latin typeface="Calibri"/>
              </a:rPr>
              <a:t>dashboards needing signup + hosting (open-sauced/open-sauced).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5803D"/>
                </a:solidFill>
                <a:latin typeface="Consolas"/>
              </a:rPr>
              <a:t>prsnoop : new:  </a:t>
            </a:r>
            <a:r>
              <a:rPr sz="1600">
                <a:solidFill>
                  <a:srgbClr val="0A0A0C"/>
                </a:solidFill>
                <a:latin typeface="Calibri"/>
              </a:rPr>
              <a:t>occupies the empty CLI gap: one command, five formats.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3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Consolas"/>
              </a:rPr>
              <a:t>05 · 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3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</a:pPr>
            <a:r>
              <a:rPr sz="3200" b="1">
                <a:solidFill>
                  <a:srgbClr val="0A0A0C"/>
                </a:solidFill>
                <a:latin typeface="Calibri"/>
              </a:rPr>
              <a:t>Stdlib only: the import tree is already installed.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00000"/>
            <a:ext cx="108324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sz="1600" b="1">
                <a:solidFill>
                  <a:srgbClr val="15803D"/>
                </a:solidFill>
                <a:latin typeface="Consolas"/>
              </a:rPr>
              <a:t>github.py:  </a:t>
            </a:r>
            <a:r>
              <a:rPr sz="1600">
                <a:solidFill>
                  <a:srgbClr val="0A0A0C"/>
                </a:solidFill>
                <a:latin typeface="Calibri"/>
              </a:rPr>
              <a:t>urllib client, token auth, ETag cache (304 = free).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5803D"/>
                </a:solidFill>
                <a:latin typeface="Consolas"/>
              </a:rPr>
              <a:t>fetch.py:  </a:t>
            </a:r>
            <a:r>
              <a:rPr sz="1600">
                <a:solidFill>
                  <a:srgbClr val="0A0A0C"/>
                </a:solidFill>
                <a:latin typeface="Calibri"/>
              </a:rPr>
              <a:t>search API, per-PR enrichment, 300-PR budget cap.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5803D"/>
                </a:solidFill>
                <a:latin typeface="Consolas"/>
              </a:rPr>
              <a:t>stats.py:  </a:t>
            </a:r>
            <a:r>
              <a:rPr sz="1600">
                <a:solidFill>
                  <a:srgbClr val="0A0A0C"/>
                </a:solidFill>
                <a:latin typeface="Calibri"/>
              </a:rPr>
              <a:t>merge rates, median + p90, streaks, language mix.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5803D"/>
                </a:solidFill>
                <a:latin typeface="Consolas"/>
              </a:rPr>
              <a:t>models.py + render.py + badge.py:  </a:t>
            </a:r>
            <a:r>
              <a:rPr sz="1600">
                <a:solidFill>
                  <a:srgbClr val="0A0A0C"/>
                </a:solidFill>
                <a:latin typeface="Calibri"/>
              </a:rPr>
              <a:t>dataclasses; 5 pure-function renderers; hand-built SVG badges.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5803D"/>
                </a:solidFill>
                <a:latin typeface="Consolas"/>
              </a:rPr>
              <a:t>Ground rules:  </a:t>
            </a:r>
            <a:r>
              <a:rPr sz="1600">
                <a:solidFill>
                  <a:srgbClr val="0A0A0C"/>
                </a:solidFill>
                <a:latin typeface="Calibri"/>
              </a:rPr>
              <a:t>0 runtime deps · no network in tests · deterministic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3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Consolas"/>
              </a:rPr>
              <a:t>06 · APPLICATION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3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</a:pPr>
            <a:r>
              <a:rPr sz="3200" b="1">
                <a:solidFill>
                  <a:srgbClr val="0A0A0C"/>
                </a:solidFill>
                <a:latin typeface="Calibri"/>
              </a:rPr>
              <a:t>One command in. A document 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00000"/>
            <a:ext cx="108324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sz="1600" b="1">
                <a:solidFill>
                  <a:srgbClr val="15803D"/>
                </a:solidFill>
                <a:latin typeface="Consolas"/>
              </a:rPr>
              <a:t>$ prsnoop user --days 30  </a:t>
            </a:r>
            <a:r>
              <a:rPr sz="1600">
                <a:solidFill>
                  <a:srgbClr val="0A0A0C"/>
                </a:solidFill>
                <a:latin typeface="Calibri"/>
              </a:rPr>
              <a:t>flags: --org, --since/--until, --no-reviews, -f, -o.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5803D"/>
                </a:solidFill>
                <a:latin typeface="Consolas"/>
              </a:rPr>
              <a:t>client -&gt; fetcher -&gt; stats:  </a:t>
            </a:r>
            <a:r>
              <a:rPr sz="1600">
                <a:solidFill>
                  <a:srgbClr val="0A0A0C"/>
                </a:solidFill>
                <a:latin typeface="Calibri"/>
              </a:rPr>
              <a:t>REST + cache -&gt; search + enrich -&gt; rates, p90, streaks.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5803D"/>
                </a:solidFill>
                <a:latin typeface="Consolas"/>
              </a:rPr>
              <a:t>render:  </a:t>
            </a:r>
            <a:r>
              <a:rPr sz="1600">
                <a:solidFill>
                  <a:srgbClr val="0A0A0C"/>
                </a:solidFill>
                <a:latin typeface="Calibri"/>
              </a:rPr>
              <a:t>table · markdown · html · csv · json in one pure function each.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5803D"/>
                </a:solidFill>
                <a:latin typeface="Consolas"/>
              </a:rPr>
              <a:t>Force multipliers:  </a:t>
            </a:r>
            <a:r>
              <a:rPr sz="1600">
                <a:solidFill>
                  <a:srgbClr val="0A0A0C"/>
                </a:solidFill>
                <a:latin typeface="Calibri"/>
              </a:rPr>
              <a:t>compare A vs B · snap --compare · --format badge · composite Action · org pulse.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3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Consolas"/>
              </a:rPr>
              <a:t>07 · RESULTS · EVERYTHING BELOW WAS ACTUALLY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3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</a:pPr>
            <a:r>
              <a:rPr sz="3200" b="1">
                <a:solidFill>
                  <a:srgbClr val="0A0A0C"/>
                </a:solidFill>
                <a:latin typeface="Calibri"/>
              </a:rPr>
              <a:t>Shipped, tested, released. Twice.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00000"/>
            <a:ext cx="108324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sz="1600" b="1">
                <a:solidFill>
                  <a:srgbClr val="15803D"/>
                </a:solidFill>
                <a:latin typeface="Consolas"/>
              </a:rPr>
              <a:t>96 tests  </a:t>
            </a:r>
            <a:r>
              <a:rPr sz="1600">
                <a:solidFill>
                  <a:srgbClr val="0A0A0C"/>
                </a:solidFill>
                <a:latin typeface="Calibri"/>
              </a:rPr>
              <a:t>passing, fully offline (fakes + fixtures, no network).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5803D"/>
                </a:solidFill>
                <a:latin typeface="Consolas"/>
              </a:rPr>
              <a:t>15 CI jobs  </a:t>
            </a:r>
            <a:r>
              <a:rPr sz="1600">
                <a:solidFill>
                  <a:srgbClr val="0A0A0C"/>
                </a:solidFill>
                <a:latin typeface="Calibri"/>
              </a:rPr>
              <a:t>green: Windows/macOS/Ubuntu x Python 3.10-3.14, plus ruff + mypy strict.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5803D"/>
                </a:solidFill>
                <a:latin typeface="Consolas"/>
              </a:rPr>
              <a:t>2 releases  </a:t>
            </a:r>
            <a:r>
              <a:rPr sz="1600">
                <a:solidFill>
                  <a:srgbClr val="0A0A0C"/>
                </a:solidFill>
                <a:latin typeface="Calibri"/>
              </a:rPr>
              <a:t>v1.2.0 and v1.3.0 shipped with built distributions attached.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5803D"/>
                </a:solidFill>
                <a:latin typeface="Consolas"/>
              </a:rPr>
              <a:t>Live demo  </a:t>
            </a:r>
            <a:r>
              <a:rPr sz="1600">
                <a:solidFill>
                  <a:srgbClr val="0A0A0C"/>
                </a:solidFill>
                <a:latin typeface="Calibri"/>
              </a:rPr>
              <a:t>public developer, 30 days: 39 PRs, 87% merged, +16k lines.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5803D"/>
                </a:solidFill>
                <a:latin typeface="Consolas"/>
              </a:rPr>
              <a:t>Plus  </a:t>
            </a:r>
            <a:r>
              <a:rPr sz="1600">
                <a:solidFill>
                  <a:srgbClr val="0A0A0C"/>
                </a:solidFill>
                <a:latin typeface="Calibri"/>
              </a:rPr>
              <a:t>23 laddered issues, live landing page, reusable GitHub 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3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Consolas"/>
              </a:rPr>
              <a:t>08 ·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3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</a:pPr>
            <a:r>
              <a:rPr sz="3200" b="1">
                <a:solidFill>
                  <a:srgbClr val="0A0A0C"/>
                </a:solidFill>
                <a:latin typeface="Calibri"/>
              </a:rPr>
              <a:t>What exists, and where each one stops.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3400000"/>
          <a:ext cx="11500000" cy="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4200000"/>
                <a:gridCol w="4500000"/>
              </a:tblGrid>
              <a:tr h="8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A9AA2"/>
                          </a:solidFill>
                        </a:rP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A9AA2"/>
                          </a:solidFill>
                        </a:rP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A9AA2"/>
                          </a:solidFill>
                        </a:rPr>
                        <a:t>Limitation (the gap)</a:t>
                      </a:r>
                    </a:p>
                  </a:txBody>
                  <a:tcPr/>
                </a:tc>
              </a:tr>
              <a:tr h="80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C"/>
                          </a:solidFill>
                        </a:rPr>
                        <a:t>gh CLI (46k stars)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C"/>
                          </a:solidFill>
                        </a:rPr>
                        <a:t>Official CLI + jq/GraphQL scripting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C"/>
                          </a:solidFill>
                        </a:rPr>
                        <a:t>No analytics; every report hand-built</a:t>
                      </a:r>
                    </a:p>
                  </a:txBody>
                  <a:tcPr/>
                </a:tc>
              </a:tr>
              <a:tr h="80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C"/>
                          </a:solidFill>
                        </a:rPr>
                        <a:t>OpenSauced (funded)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C"/>
                          </a:solidFill>
                        </a:rPr>
                        <a:t>Web dashboards + workspaces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C"/>
                          </a:solidFill>
                        </a:rPr>
                        <a:t>Signup/hosting; no terminal, CI, or cron</a:t>
                      </a:r>
                    </a:p>
                  </a:txBody>
                  <a:tcPr/>
                </a:tc>
              </a:tr>
              <a:tr h="80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C"/>
                          </a:solidFill>
                        </a:rPr>
                        <a:t>OSS Insight (PingCAP)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C"/>
                          </a:solidFill>
                        </a:rPr>
                        <a:t>Ecosystem-scale event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C"/>
                          </a:solidFill>
                        </a:rPr>
                        <a:t>Repo research, not personal reports</a:t>
                      </a:r>
                    </a:p>
                  </a:txBody>
                  <a:tcPr/>
                </a:tc>
              </a:tr>
              <a:tr h="80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C"/>
                          </a:solidFill>
                        </a:rPr>
                        <a:t>prsnoop (this work)</a:t>
                      </a:r>
                    </a:p>
                  </a:txBody>
                  <a:tcPr>
                    <a:solidFill>
                      <a:srgbClr val="E7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C"/>
                          </a:solidFill>
                        </a:rPr>
                        <a:t>Zero-dep CLI, five report formats</a:t>
                      </a:r>
                    </a:p>
                  </a:txBody>
                  <a:tcPr>
                    <a:solidFill>
                      <a:srgbClr val="E7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C"/>
                          </a:solidFill>
                        </a:rPr>
                        <a:t>New; PyPI/plugins are roadmap</a:t>
                      </a:r>
                    </a:p>
                  </a:txBody>
                  <a:tcPr>
                    <a:solidFill>
                      <a:srgbClr val="E7F4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3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Consolas"/>
              </a:rPr>
              <a:t>09 · TEAM CONTRIBUTION  [REPLACE MEMBER NAMES BEFORE PRESENTING]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3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</a:pPr>
            <a:r>
              <a:rPr sz="3200" b="1">
                <a:solidFill>
                  <a:srgbClr val="0A0A0C"/>
                </a:solidFill>
                <a:latin typeface="Calibri"/>
              </a:rPr>
              <a:t>Four lanes. One main branch.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3400000"/>
          <a:ext cx="11500000" cy="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00"/>
                <a:gridCol w="3000000"/>
                <a:gridCol w="6000000"/>
              </a:tblGrid>
              <a:tr h="8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A9AA2"/>
                          </a:solidFill>
                        </a:rPr>
                        <a:t>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A9AA2"/>
                          </a:solidFill>
                        </a:rPr>
                        <a:t>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A9AA2"/>
                          </a:solidFill>
                        </a:rPr>
                        <a:t>Delivered</a:t>
                      </a:r>
                    </a:p>
                  </a:txBody>
                  <a:tcPr/>
                </a:tc>
              </a:tr>
              <a:tr h="80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C"/>
                          </a:solidFill>
                        </a:rPr>
                        <a:t>Member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C"/>
                          </a:solidFill>
                        </a:rPr>
                        <a:t>CLI + packaging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C"/>
                          </a:solidFill>
                        </a:rPr>
                        <a:t>Arg parsing, exit codes, wheel/sdist, releases</a:t>
                      </a:r>
                    </a:p>
                  </a:txBody>
                  <a:tcPr/>
                </a:tc>
              </a:tr>
              <a:tr h="80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C"/>
                          </a:solidFill>
                        </a:rPr>
                        <a:t>Member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C"/>
                          </a:solidFill>
                        </a:rPr>
                        <a:t>Fetch + stats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C"/>
                          </a:solidFill>
                        </a:rPr>
                        <a:t>REST client, cache, percentiles + streaks</a:t>
                      </a:r>
                    </a:p>
                  </a:txBody>
                  <a:tcPr/>
                </a:tc>
              </a:tr>
              <a:tr h="80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C"/>
                          </a:solidFill>
                        </a:rPr>
                        <a:t>Member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C"/>
                          </a:solidFill>
                        </a:rPr>
                        <a:t>Renderers +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C"/>
                          </a:solidFill>
                        </a:rPr>
                        <a:t>5 formats, badges, compare, CI Action</a:t>
                      </a:r>
                    </a:p>
                  </a:txBody>
                  <a:tcPr/>
                </a:tc>
              </a:tr>
              <a:tr h="80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C"/>
                          </a:solidFill>
                        </a:rPr>
                        <a:t>Member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C"/>
                          </a:solidFill>
                        </a:rPr>
                        <a:t>Quality + 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C"/>
                          </a:solidFill>
                        </a:rPr>
                        <a:t>96 tests, lint + types, 15-job CI, landing page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00000"/>
            <a:ext cx="108324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5400" b="1">
                <a:solidFill>
                  <a:srgbClr val="FBFBFA"/>
                </a:solidFill>
                <a:latin typeface="Calibri"/>
              </a:rPr>
              <a:t>thank you.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400000"/>
            <a:ext cx="108324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600" b="0">
                <a:solidFill>
                  <a:srgbClr val="B9B9C0"/>
                </a:solidFill>
                <a:latin typeface="Calibri"/>
              </a:rPr>
              <a:t>prsnoop is MIT-licensed and open for contributions : 23 issues waiting.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BFBFA"/>
                </a:solidFill>
                <a:latin typeface="Consolas"/>
              </a:rPr>
              <a:t>github.com/MohammedAnasNathani/prsnoop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5803D"/>
                </a:solidFill>
                <a:latin typeface="Consolas"/>
              </a:rPr>
              <a:t>pip install prsnoop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